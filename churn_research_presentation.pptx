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649224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PRACTICE  /  ASSIGNMENT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92240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    01 /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91440"/>
            <a:ext cx="3803904" cy="6291072"/>
          </a:xfrm>
          <a:prstGeom prst="rect">
            <a:avLst/>
          </a:prstGeom>
          <a:solidFill>
            <a:srgbClr val="13233B"/>
          </a:solidFill>
          <a:ln w="12700">
            <a:solidFill>
              <a:srgbClr val="13233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Can we identify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customers likely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to leave?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4343400" y="1005840"/>
            <a:ext cx="70591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33B"/>
                </a:solidFill>
              </a:rPr>
              <a:t>Predicting telecommunications customer churn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343400" y="2404872"/>
            <a:ext cx="68580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87E83"/>
                </a:solidFill>
              </a:rPr>
              <a:t>Logistic Regression vs Random Forest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343400" y="3346704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6445B"/>
                </a:solidFill>
              </a:rPr>
              <a:t>IBM sample dataset • 7,043 customers • 21 raw columns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43400" y="3995928"/>
            <a:ext cx="6949440" cy="0"/>
          </a:xfrm>
          <a:prstGeom prst="line">
            <a:avLst/>
          </a:prstGeom>
          <a:noFill/>
          <a:ln w="25400">
            <a:solidFill>
              <a:srgbClr val="DC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4434840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788F"/>
                </a:solidFill>
              </a:rPr>
              <a:t>Shahriar Kamal   |   October 2026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43400" y="5120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45B"/>
                </a:solidFill>
              </a:rPr>
              <a:t>Primary evaluation metric: churn-class F1-score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649224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PRACTICE  /  ASSIGNMENT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92240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    02 / 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3504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7E83"/>
                </a:solidFill>
              </a:rPr>
              <a:t>WHY THIS RESEARCH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</a:rPr>
              <a:t>Predicting churn is not the same as preventing it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35331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</a:rPr>
              <a:t>Prior research motivates a fair comparison of a simple model and an ensemble.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" y="1993392"/>
            <a:ext cx="3502152" cy="2962656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221992"/>
            <a:ext cx="30266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B"/>
                </a:solidFill>
              </a:rPr>
              <a:t>The challenge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9536" y="2779776"/>
            <a:ext cx="2999232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6445B"/>
                </a:solidFill>
              </a:rPr>
              <a:t>Only 26.54% of the customers churned. An accuracy-only metric can conceal failure to identify those customers.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52544" y="1993392"/>
            <a:ext cx="3502152" cy="2962656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221992"/>
            <a:ext cx="30266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B"/>
                </a:solidFill>
              </a:rPr>
              <a:t>What research suggests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9432" y="2779776"/>
            <a:ext cx="2999232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6445B"/>
                </a:solidFill>
              </a:rPr>
              <a:t>Random Forest and feature engineering can capture complex patterns; handling class imbalance and business costs also matters.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2440" y="1993392"/>
            <a:ext cx="3502152" cy="2962656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2221992"/>
            <a:ext cx="30266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B"/>
                </a:solidFill>
              </a:rPr>
              <a:t>Our question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39328" y="2779776"/>
            <a:ext cx="2999232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6445B"/>
                </a:solidFill>
              </a:rPr>
              <a:t>Does Random Forest improve F1-score and ROC-AUC compared with Logistic Regression on the same dataset and hold-out test?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25780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88F"/>
                </a:solidFill>
              </a:rPr>
              <a:t>Literature: Ullah et al. (2019)  •  Wu et al. (2021)  •  Xu et al. (2021)  •  Manzoor et al. (2024)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649224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PRACTICE  /  ASSIGNMENT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92240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    03 / 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3504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7E83"/>
                </a:solidFill>
              </a:rPr>
              <a:t>EXPERIMENTAL DESIGN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</a:rPr>
              <a:t>One held-out test. Two classifiers.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35331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</a:rPr>
              <a:t>A comparable pipeline based on the original methodology and notebook.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" y="2002536"/>
            <a:ext cx="2542032" cy="2212848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21945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7E83"/>
                </a:solidFill>
              </a:rPr>
              <a:t>01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13816" y="2651760"/>
            <a:ext cx="2139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B"/>
                </a:solidFill>
              </a:rPr>
              <a:t>Raw 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3816" y="3218688"/>
            <a:ext cx="2139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45B"/>
                </a:solidFill>
              </a:rPr>
              <a:t>7,043 customers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45B"/>
                </a:solidFill>
              </a:rPr>
              <a:t>Churn: Yes / No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91256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7E83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511296" y="2002536"/>
            <a:ext cx="2542032" cy="2212848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2464" y="21945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7E83"/>
                </a:solidFill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712464" y="2651760"/>
            <a:ext cx="2139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B"/>
                </a:solidFill>
              </a:rPr>
              <a:t>Prepare data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12464" y="3218688"/>
            <a:ext cx="2139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45B"/>
                </a:solidFill>
              </a:rPr>
              <a:t>11 blank charges →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45B"/>
                </a:solidFill>
              </a:rPr>
              <a:t>One-hot categories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89904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7E83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409944" y="2002536"/>
            <a:ext cx="2542032" cy="2212848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21945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7E83"/>
                </a:solidFill>
              </a:rPr>
              <a:t>03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611112" y="2651760"/>
            <a:ext cx="2139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B"/>
                </a:solidFill>
              </a:rPr>
              <a:t>Engineer features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11112" y="3218688"/>
            <a:ext cx="2139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45B"/>
                </a:solidFill>
              </a:rPr>
              <a:t>Tenure cohort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45B"/>
                </a:solidFill>
              </a:rPr>
              <a:t>Services count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45B"/>
                </a:solidFill>
              </a:rPr>
              <a:t>Charge difference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88552" y="2926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7E83"/>
                </a:solidFill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308592" y="2002536"/>
            <a:ext cx="2542032" cy="2212848"/>
          </a:xfrm>
          <a:prstGeom prst="roundRect">
            <a:avLst>
              <a:gd name="adj" fmla="val 537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0" y="21945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7E83"/>
                </a:solidFill>
              </a:rPr>
              <a:t>04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509760" y="2651760"/>
            <a:ext cx="2139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B"/>
                </a:solidFill>
              </a:rPr>
              <a:t>Fit &amp; compare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09760" y="3218688"/>
            <a:ext cx="2139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45B"/>
                </a:solidFill>
              </a:rPr>
              <a:t>Stratified 80/20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45B"/>
                </a:solidFill>
              </a:rPr>
              <a:t>Balanced classes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280160" y="4800600"/>
            <a:ext cx="4297680" cy="384048"/>
          </a:xfrm>
          <a:prstGeom prst="roundRect">
            <a:avLst>
              <a:gd name="adj" fmla="val 38095"/>
            </a:avLst>
          </a:prstGeom>
          <a:solidFill>
            <a:srgbClr val="6478B7"/>
          </a:solidFill>
          <a:ln w="12700">
            <a:solidFill>
              <a:srgbClr val="6478B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485546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Logistic Regression  •  baseline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37376" y="4800600"/>
            <a:ext cx="4297680" cy="384048"/>
          </a:xfrm>
          <a:prstGeom prst="roundRect">
            <a:avLst>
              <a:gd name="adj" fmla="val 38095"/>
            </a:avLst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37376" y="485546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Forest  •  300 trees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" y="5486400"/>
            <a:ext cx="10835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B"/>
                </a:solidFill>
              </a:rPr>
              <a:t>Training n = 5,634     •     Test n = 1,409     •     Stratified split, random_state = 42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649224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PRACTICE  /  ASSIGNMENT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92240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    04 / 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3504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7E83"/>
                </a:solidFill>
              </a:rPr>
              <a:t>MODEL COMPARISON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</a:rPr>
              <a:t>Random Forest has a small edge in F1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35331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</a:rPr>
              <a:t>Test-set metrics for the positive class: Churn = 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" y="1847088"/>
            <a:ext cx="8887968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pic>
        <p:nvPicPr>
          <p:cNvPr id="9" name="Image 0" descr="/mnt/data/churn_assignment2_repository/figures/figure_1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8412480" cy="3794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683496" y="1847088"/>
            <a:ext cx="1865376" cy="4206240"/>
          </a:xfrm>
          <a:prstGeom prst="roundRect">
            <a:avLst>
              <a:gd name="adj" fmla="val 6863"/>
            </a:avLst>
          </a:prstGeom>
          <a:solidFill>
            <a:srgbClr val="13233B"/>
          </a:solidFill>
          <a:ln w="12700">
            <a:solidFill>
              <a:srgbClr val="1323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38944" y="26060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B75B"/>
                </a:solidFill>
              </a:rPr>
              <a:t>+0.0106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9829800" y="3127248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F1 gain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838944" y="388620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B75B"/>
                </a:solidFill>
              </a:rPr>
              <a:t>+0.0010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9784080" y="438912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ROC-AUC gain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649224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PRACTICE  /  ASSIGNMENT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92240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    05 / 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3504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7E83"/>
                </a:solidFill>
              </a:rPr>
              <a:t>CONFUSION MATRICES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</a:rPr>
              <a:t>Fewer false alarms, but more churners missed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35331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</a:rPr>
              <a:t>Comparing what each model actually classified at the default threshold.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" y="1920240"/>
            <a:ext cx="1092708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pic>
        <p:nvPicPr>
          <p:cNvPr id="9" name="Image 0" descr="/mnt/data/churn_assignment2_repository/figures/figure_2_wide_for_sli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12264"/>
            <a:ext cx="10241280" cy="2953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50976" y="5541264"/>
            <a:ext cx="10287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33B"/>
                </a:solidFill>
              </a:rPr>
              <a:t>Random Forest: 27 fewer false positives (258 vs 285), but 5 more false negatives (86 vs 81).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649224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PRACTICE  /  ASSIGNMENT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92240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     06 / 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3504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7E83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</a:rPr>
              <a:t>The best model depends on the cost of mistakes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35331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</a:rPr>
              <a:t>A 0.0106 F1 gain is useful to report, but not grounds for deployment by itself.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" y="1947672"/>
            <a:ext cx="5340096" cy="1828800"/>
          </a:xfrm>
          <a:prstGeom prst="roundRect">
            <a:avLst>
              <a:gd name="adj" fmla="val 7500"/>
            </a:avLst>
          </a:prstGeom>
          <a:solidFill>
            <a:srgbClr val="EAF7F4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176272"/>
            <a:ext cx="48646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B"/>
                </a:solidFill>
              </a:rPr>
              <a:t>Business takeaway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9536" y="2734056"/>
            <a:ext cx="483717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45B"/>
                </a:solidFill>
              </a:rPr>
              <a:t>Random Forest flags fewer customers unnecessarily. Logistic Regression catches more actual churners.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90488" y="1947672"/>
            <a:ext cx="53492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2176272"/>
            <a:ext cx="4873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B"/>
                </a:solidFill>
              </a:rPr>
              <a:t>Limits of this result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37376" y="2734056"/>
            <a:ext cx="4846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6445B"/>
                </a:solidFill>
              </a:rPr>
              <a:t>One train/test split, fictional sample data, no cross-validation, and no cost-aware threshold study.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2648" y="4096512"/>
            <a:ext cx="1092708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315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7E83"/>
                </a:solidFill>
              </a:rPr>
              <a:t>NEXT STEP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6112" y="4681728"/>
            <a:ext cx="10030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B"/>
                </a:solidFill>
              </a:rPr>
              <a:t>Validate on repeated splits • test feature ablations • optimize thresholds using retention costs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649224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PRACTICE  /  ASSIGNMENT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92240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878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    07 / 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3504" y="36576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7E83"/>
                </a:solidFill>
              </a:rPr>
              <a:t>EVIDENCE BASE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B"/>
                </a:solidFill>
              </a:rPr>
              <a:t>Peer-reviewed sources and project files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353312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88F"/>
                </a:solidFill>
              </a:rPr>
              <a:t>The cited literature is consistent with the original literature-review topics.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" y="1938528"/>
            <a:ext cx="10936224" cy="466344"/>
          </a:xfrm>
          <a:prstGeom prst="roundRect">
            <a:avLst>
              <a:gd name="adj" fmla="val 23529"/>
            </a:avLst>
          </a:prstGeom>
          <a:solidFill>
            <a:srgbClr val="EAF3F8"/>
          </a:solidFill>
          <a:ln w="635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29968"/>
            <a:ext cx="10195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33B"/>
                </a:solidFill>
              </a:rPr>
              <a:t>Ullah et al. (2019), IEEE Access. DOI: 10.1109/ACCESS.2019.2914999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" y="2542032"/>
            <a:ext cx="10936224" cy="466344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6350">
            <a:solidFill>
              <a:srgbClr val="DC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633472"/>
            <a:ext cx="10195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33B"/>
                </a:solidFill>
              </a:rPr>
              <a:t>Wu et al. (2021), IEEE Access. DOI: 10.1109/ACCESS.2021.3073776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" y="3145536"/>
            <a:ext cx="10936224" cy="466344"/>
          </a:xfrm>
          <a:prstGeom prst="roundRect">
            <a:avLst>
              <a:gd name="adj" fmla="val 23529"/>
            </a:avLst>
          </a:prstGeom>
          <a:solidFill>
            <a:srgbClr val="EAF3F8"/>
          </a:solidFill>
          <a:ln w="6350">
            <a:solidFill>
              <a:srgbClr val="DCE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36976"/>
            <a:ext cx="10195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33B"/>
                </a:solidFill>
              </a:rPr>
              <a:t>Xu et al. (2021), Applied Sciences. DOI: 10.3390/app11114742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" y="3749040"/>
            <a:ext cx="10936224" cy="466344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6350">
            <a:solidFill>
              <a:srgbClr val="DC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40480"/>
            <a:ext cx="10195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33B"/>
                </a:solidFill>
              </a:rPr>
              <a:t>Alotaibi &amp; Haq (2024), ETASR. DOI: 10.48084/etasr.7480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" y="4352544"/>
            <a:ext cx="10936224" cy="466344"/>
          </a:xfrm>
          <a:prstGeom prst="roundRect">
            <a:avLst>
              <a:gd name="adj" fmla="val 23529"/>
            </a:avLst>
          </a:prstGeom>
          <a:solidFill>
            <a:srgbClr val="EAF3F8"/>
          </a:solidFill>
          <a:ln w="6350">
            <a:solidFill>
              <a:srgbClr val="DCE5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443984"/>
            <a:ext cx="10195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33B"/>
                </a:solidFill>
              </a:rPr>
              <a:t>Manzoor et al. (2024), IEEE Access. DOI: 10.1109/ACCESS.2024.3402092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" y="51846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7E83"/>
                </a:solidFill>
              </a:rPr>
              <a:t>Full APA 7 reference list: paper.md   |   Zotero import: references.ris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Research Practice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Telecommunications Customer Churn</dc:title>
  <dc:subject>Telecommunications Customer Churn Prediction — Assignment 2</dc:subject>
  <dc:creator>Shahriar Kamal</dc:creator>
  <cp:lastModifiedBy>Shahriar Kamal</cp:lastModifiedBy>
  <cp:revision>1</cp:revision>
  <dcterms:created xsi:type="dcterms:W3CDTF">2026-10-16T20:11:14Z</dcterms:created>
  <dcterms:modified xsi:type="dcterms:W3CDTF">2026-10-16T20:11:14Z</dcterms:modified>
</cp:coreProperties>
</file>